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113" autoAdjust="0"/>
    <p:restoredTop sz="94660"/>
  </p:normalViewPr>
  <p:slideViewPr>
    <p:cSldViewPr snapToGrid="0">
      <p:cViewPr>
        <p:scale>
          <a:sx n="100" d="100"/>
          <a:sy n="100" d="100"/>
        </p:scale>
        <p:origin x="173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D1A0E00A-F191-0CEE-F1E4-863A9FCBAB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964" y="5000304"/>
            <a:ext cx="799014" cy="79901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2537438-CA3B-DD1C-0741-F6BA1FEE98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743" y="5000304"/>
            <a:ext cx="799014" cy="79901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A6838F2-B804-2197-4B64-FACE93ECA4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366" y="5000304"/>
            <a:ext cx="799014" cy="799014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B839AF2-54A0-00F9-D050-2ACAEE4C0186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>
            <a:off x="3142978" y="5399811"/>
            <a:ext cx="834388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DBB6B02-C58A-64D0-9473-DF7B8C941D68}"/>
              </a:ext>
            </a:extLst>
          </p:cNvPr>
          <p:cNvSpPr txBox="1"/>
          <p:nvPr/>
        </p:nvSpPr>
        <p:spPr>
          <a:xfrm>
            <a:off x="3111677" y="5103761"/>
            <a:ext cx="799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文档解析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66FA435-0284-0109-F79C-C5339113012F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>
            <a:off x="4776380" y="5399811"/>
            <a:ext cx="1015363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8E388626-5FBA-BEB2-C3FC-9127AF57EC7E}"/>
              </a:ext>
            </a:extLst>
          </p:cNvPr>
          <p:cNvSpPr txBox="1"/>
          <p:nvPr/>
        </p:nvSpPr>
        <p:spPr>
          <a:xfrm>
            <a:off x="4815786" y="5103761"/>
            <a:ext cx="799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文档分割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C545719E-AA4E-B379-425C-BEC5284598DE}"/>
              </a:ext>
            </a:extLst>
          </p:cNvPr>
          <p:cNvGrpSpPr/>
          <p:nvPr/>
        </p:nvGrpSpPr>
        <p:grpSpPr>
          <a:xfrm>
            <a:off x="5107749" y="3299909"/>
            <a:ext cx="1112479" cy="1488079"/>
            <a:chOff x="4713580" y="524808"/>
            <a:chExt cx="1112479" cy="1488079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31A7857D-7BE4-3E98-CA42-FD0EF009C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3580" y="524808"/>
              <a:ext cx="1112479" cy="1112479"/>
            </a:xfrm>
            <a:prstGeom prst="rect">
              <a:avLst/>
            </a:prstGeom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7BD047C-8B67-28A7-3185-C752D1094C83}"/>
                </a:ext>
              </a:extLst>
            </p:cNvPr>
            <p:cNvSpPr txBox="1"/>
            <p:nvPr/>
          </p:nvSpPr>
          <p:spPr>
            <a:xfrm>
              <a:off x="4924870" y="1643555"/>
              <a:ext cx="6751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LLM</a:t>
              </a:r>
              <a:endParaRPr lang="zh-CN" altLang="en-US" b="1" dirty="0">
                <a:solidFill>
                  <a:schemeClr val="bg2">
                    <a:lumMod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8F5A0A9-116D-9D88-E984-443CECC1CB73}"/>
              </a:ext>
            </a:extLst>
          </p:cNvPr>
          <p:cNvGrpSpPr/>
          <p:nvPr/>
        </p:nvGrpSpPr>
        <p:grpSpPr>
          <a:xfrm>
            <a:off x="6720051" y="3633033"/>
            <a:ext cx="1106793" cy="999772"/>
            <a:chOff x="5940313" y="3122632"/>
            <a:chExt cx="1106793" cy="999772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BB170659-6F83-652B-2EE5-EBB8B2064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1393" y="3122632"/>
              <a:ext cx="786644" cy="78664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671B34F-6C22-578D-28B7-5ED7BD933C07}"/>
                </a:ext>
              </a:extLst>
            </p:cNvPr>
            <p:cNvSpPr txBox="1"/>
            <p:nvPr/>
          </p:nvSpPr>
          <p:spPr>
            <a:xfrm>
              <a:off x="5940313" y="3845405"/>
              <a:ext cx="1106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Embedding</a:t>
              </a:r>
              <a:endParaRPr lang="zh-CN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endParaRPr>
            </a:p>
          </p:txBody>
        </p: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6A0A89FC-2A6E-4F8D-638E-223DDE78B78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58" y="5156201"/>
            <a:ext cx="2060934" cy="487219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2086DCBF-1C2A-0415-107A-EA2E99CB22B2}"/>
              </a:ext>
            </a:extLst>
          </p:cNvPr>
          <p:cNvSpPr txBox="1"/>
          <p:nvPr/>
        </p:nvSpPr>
        <p:spPr>
          <a:xfrm>
            <a:off x="2262711" y="5845182"/>
            <a:ext cx="955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本地文档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DE932BA-469A-499A-4D82-9E14F168804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75" y="2622381"/>
            <a:ext cx="735426" cy="735426"/>
          </a:xfrm>
          <a:prstGeom prst="rect">
            <a:avLst/>
          </a:prstGeom>
        </p:spPr>
      </p:pic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09CB1FE-E257-2625-CE19-29C69F624C47}"/>
              </a:ext>
            </a:extLst>
          </p:cNvPr>
          <p:cNvCxnSpPr>
            <a:cxnSpLocks/>
            <a:stCxn id="13" idx="3"/>
            <a:endCxn id="34" idx="1"/>
          </p:cNvCxnSpPr>
          <p:nvPr/>
        </p:nvCxnSpPr>
        <p:spPr>
          <a:xfrm>
            <a:off x="6590757" y="5399811"/>
            <a:ext cx="1788001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62928B30-06EE-D252-E6E2-313D36B46A56}"/>
              </a:ext>
            </a:extLst>
          </p:cNvPr>
          <p:cNvSpPr txBox="1"/>
          <p:nvPr/>
        </p:nvSpPr>
        <p:spPr>
          <a:xfrm>
            <a:off x="6922009" y="5101920"/>
            <a:ext cx="799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向量化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21D6E36-E81F-8444-EF77-399B16129653}"/>
              </a:ext>
            </a:extLst>
          </p:cNvPr>
          <p:cNvSpPr txBox="1"/>
          <p:nvPr/>
        </p:nvSpPr>
        <p:spPr>
          <a:xfrm>
            <a:off x="8947715" y="5691293"/>
            <a:ext cx="113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本地知识库</a:t>
            </a:r>
          </a:p>
        </p:txBody>
      </p:sp>
      <p:sp>
        <p:nvSpPr>
          <p:cNvPr id="46" name="矩形: 一个圆顶角，剪去另一个顶角 45">
            <a:extLst>
              <a:ext uri="{FF2B5EF4-FFF2-40B4-BE49-F238E27FC236}">
                <a16:creationId xmlns:a16="http://schemas.microsoft.com/office/drawing/2014/main" id="{3FCE95AE-BB41-8C3D-DA23-A8FF75DB9A51}"/>
              </a:ext>
            </a:extLst>
          </p:cNvPr>
          <p:cNvSpPr/>
          <p:nvPr/>
        </p:nvSpPr>
        <p:spPr>
          <a:xfrm>
            <a:off x="2427826" y="642119"/>
            <a:ext cx="3418258" cy="1474792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</a:rPr>
              <a:t>人工智能助手已经成为工作场景中不可或缺的一部分，其中文本补全功能是最常用的功能之一。</a:t>
            </a:r>
            <a:endParaRPr lang="en-US" altLang="zh-CN" sz="1100" dirty="0">
              <a:solidFill>
                <a:schemeClr val="bg2">
                  <a:lumMod val="25000"/>
                </a:schemeClr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zh-CN" altLang="en-US" sz="11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1100" b="1" dirty="0">
                <a:solidFill>
                  <a:schemeClr val="accent6">
                    <a:lumMod val="75000"/>
                  </a:schemeClr>
                </a:solidFill>
              </a:rPr>
              <a:t>[CURSOR] </a:t>
            </a:r>
          </a:p>
          <a:p>
            <a:pPr algn="just">
              <a:lnSpc>
                <a:spcPct val="120000"/>
              </a:lnSpc>
            </a:pP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</a:rPr>
              <a:t>经过一段时间的使用和反馈收集，我们发现用户对这款文本补全工具的满意度非常高。</a:t>
            </a:r>
            <a:endParaRPr lang="en-US" altLang="zh-CN" sz="110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2C90BDE2-E138-E239-2065-FE08FDD499C9}"/>
              </a:ext>
            </a:extLst>
          </p:cNvPr>
          <p:cNvCxnSpPr>
            <a:cxnSpLocks/>
            <a:stCxn id="38" idx="3"/>
            <a:endCxn id="46" idx="2"/>
          </p:cNvCxnSpPr>
          <p:nvPr/>
        </p:nvCxnSpPr>
        <p:spPr>
          <a:xfrm flipV="1">
            <a:off x="1495201" y="1379515"/>
            <a:ext cx="932625" cy="161057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9DC6C3C4-58E5-694D-C964-EAA4BF30F250}"/>
              </a:ext>
            </a:extLst>
          </p:cNvPr>
          <p:cNvSpPr txBox="1"/>
          <p:nvPr/>
        </p:nvSpPr>
        <p:spPr>
          <a:xfrm>
            <a:off x="1410611" y="1943956"/>
            <a:ext cx="548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写作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9BC24E0-6D00-0033-15E3-30AC2398C9C8}"/>
              </a:ext>
            </a:extLst>
          </p:cNvPr>
          <p:cNvSpPr txBox="1"/>
          <p:nvPr/>
        </p:nvSpPr>
        <p:spPr>
          <a:xfrm>
            <a:off x="809152" y="3412803"/>
            <a:ext cx="6337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用户</a:t>
            </a:r>
          </a:p>
        </p:txBody>
      </p:sp>
      <p:sp>
        <p:nvSpPr>
          <p:cNvPr id="54" name="矩形: 剪去单角 53">
            <a:extLst>
              <a:ext uri="{FF2B5EF4-FFF2-40B4-BE49-F238E27FC236}">
                <a16:creationId xmlns:a16="http://schemas.microsoft.com/office/drawing/2014/main" id="{5ABCA7AA-2D0D-461B-BB62-F917586BD4B1}"/>
              </a:ext>
            </a:extLst>
          </p:cNvPr>
          <p:cNvSpPr/>
          <p:nvPr/>
        </p:nvSpPr>
        <p:spPr>
          <a:xfrm>
            <a:off x="2750437" y="2287635"/>
            <a:ext cx="1972725" cy="1430175"/>
          </a:xfrm>
          <a:prstGeom prst="snip1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100" dirty="0">
                <a:solidFill>
                  <a:schemeClr val="bg2">
                    <a:lumMod val="50000"/>
                  </a:schemeClr>
                </a:solidFill>
              </a:rPr>
              <a:t>为了提高用户体验，我们团队开发了一款基于深度学习的文本补全工具，通过分析用户的输入习惯和上下文环境，能够预测用户接下来可能输入的内容，并给出精准的补全建议。</a:t>
            </a:r>
          </a:p>
        </p:txBody>
      </p:sp>
      <p:sp>
        <p:nvSpPr>
          <p:cNvPr id="63" name="矩形: 剪去单角 62">
            <a:extLst>
              <a:ext uri="{FF2B5EF4-FFF2-40B4-BE49-F238E27FC236}">
                <a16:creationId xmlns:a16="http://schemas.microsoft.com/office/drawing/2014/main" id="{1A9FC032-D647-1E5A-482F-F2B1DF5602E2}"/>
              </a:ext>
            </a:extLst>
          </p:cNvPr>
          <p:cNvSpPr/>
          <p:nvPr/>
        </p:nvSpPr>
        <p:spPr>
          <a:xfrm>
            <a:off x="8747159" y="1536067"/>
            <a:ext cx="1875170" cy="2030625"/>
          </a:xfrm>
          <a:prstGeom prst="snip1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n"/>
            </a:pP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我们团队开发了文本补全助手，旨在提高用户体验。</a:t>
            </a:r>
            <a:endParaRPr lang="en-US" altLang="zh-CN" sz="1050" dirty="0">
              <a:solidFill>
                <a:schemeClr val="bg2">
                  <a:lumMod val="50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文本补全助手基于深度学习算法，可以通过分析用户的输入习惯和上下文环境，能够预测用户接下来可能输入的内容，并给出精准的补全建议。</a:t>
            </a:r>
            <a:endParaRPr lang="en-US" altLang="zh-CN" sz="1050" dirty="0">
              <a:solidFill>
                <a:schemeClr val="bg2">
                  <a:lumMod val="50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en-US" altLang="zh-CN" sz="1050" dirty="0">
                <a:solidFill>
                  <a:schemeClr val="bg2">
                    <a:lumMod val="50000"/>
                  </a:schemeClr>
                </a:solidFill>
              </a:rPr>
              <a:t>…</a:t>
            </a:r>
            <a:endParaRPr lang="zh-CN" altLang="en-US" sz="10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7E516068-F740-413D-C1A7-28CEF056EECC}"/>
              </a:ext>
            </a:extLst>
          </p:cNvPr>
          <p:cNvSpPr/>
          <p:nvPr/>
        </p:nvSpPr>
        <p:spPr>
          <a:xfrm>
            <a:off x="9020332" y="3889597"/>
            <a:ext cx="1333499" cy="4191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</a:rPr>
              <a:t>知识检索</a:t>
            </a:r>
          </a:p>
        </p:txBody>
      </p:sp>
      <p:sp>
        <p:nvSpPr>
          <p:cNvPr id="79" name="箭头: 上下 78">
            <a:extLst>
              <a:ext uri="{FF2B5EF4-FFF2-40B4-BE49-F238E27FC236}">
                <a16:creationId xmlns:a16="http://schemas.microsoft.com/office/drawing/2014/main" id="{293168E4-0EED-7D39-D497-7D12006C8575}"/>
              </a:ext>
            </a:extLst>
          </p:cNvPr>
          <p:cNvSpPr/>
          <p:nvPr/>
        </p:nvSpPr>
        <p:spPr>
          <a:xfrm rot="5400000">
            <a:off x="8219159" y="3627306"/>
            <a:ext cx="193111" cy="943681"/>
          </a:xfrm>
          <a:prstGeom prst="up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箭头: 上下 79">
            <a:extLst>
              <a:ext uri="{FF2B5EF4-FFF2-40B4-BE49-F238E27FC236}">
                <a16:creationId xmlns:a16="http://schemas.microsoft.com/office/drawing/2014/main" id="{BB48F368-C31E-73D3-A9EA-DE38F3068500}"/>
              </a:ext>
            </a:extLst>
          </p:cNvPr>
          <p:cNvSpPr/>
          <p:nvPr/>
        </p:nvSpPr>
        <p:spPr>
          <a:xfrm rot="10800000">
            <a:off x="7248987" y="4653529"/>
            <a:ext cx="145059" cy="419099"/>
          </a:xfrm>
          <a:prstGeom prst="up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D10600FF-DEA1-A964-5B4D-20E091B6FB99}"/>
              </a:ext>
            </a:extLst>
          </p:cNvPr>
          <p:cNvCxnSpPr>
            <a:cxnSpLocks/>
            <a:stCxn id="64" idx="0"/>
            <a:endCxn id="63" idx="1"/>
          </p:cNvCxnSpPr>
          <p:nvPr/>
        </p:nvCxnSpPr>
        <p:spPr>
          <a:xfrm flipH="1" flipV="1">
            <a:off x="9684744" y="3566692"/>
            <a:ext cx="2338" cy="32290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4" name="矩形: 对角圆角 93">
            <a:extLst>
              <a:ext uri="{FF2B5EF4-FFF2-40B4-BE49-F238E27FC236}">
                <a16:creationId xmlns:a16="http://schemas.microsoft.com/office/drawing/2014/main" id="{90C5BC5E-63C8-5854-BCE5-E1B3510A70D1}"/>
              </a:ext>
            </a:extLst>
          </p:cNvPr>
          <p:cNvSpPr/>
          <p:nvPr/>
        </p:nvSpPr>
        <p:spPr>
          <a:xfrm>
            <a:off x="6351377" y="1536068"/>
            <a:ext cx="1884516" cy="1362116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Prompt</a:t>
            </a:r>
          </a:p>
          <a:p>
            <a:r>
              <a:rPr lang="en-US" altLang="zh-CN" sz="1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## 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角色</a:t>
            </a:r>
            <a:r>
              <a:rPr lang="en-US" altLang="zh-CN" sz="1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..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</a:t>
            </a:r>
            <a:r>
              <a:rPr lang="en-US" altLang="zh-CN" sz="1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## 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任务</a:t>
            </a:r>
            <a:r>
              <a:rPr lang="en-US" altLang="zh-CN" sz="1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…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  <a:r>
              <a:rPr lang="en-US" altLang="zh-CN" sz="1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## 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要求</a:t>
            </a:r>
            <a:r>
              <a:rPr lang="en-US" altLang="zh-CN" sz="1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… ## 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参考知识</a:t>
            </a:r>
            <a:r>
              <a:rPr lang="en-US" altLang="zh-CN" sz="1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…</a:t>
            </a:r>
          </a:p>
        </p:txBody>
      </p:sp>
      <p:sp>
        <p:nvSpPr>
          <p:cNvPr id="104" name="箭头: 上下 103">
            <a:extLst>
              <a:ext uri="{FF2B5EF4-FFF2-40B4-BE49-F238E27FC236}">
                <a16:creationId xmlns:a16="http://schemas.microsoft.com/office/drawing/2014/main" id="{6F9D9F43-04A8-3869-3781-C9B670126E58}"/>
              </a:ext>
            </a:extLst>
          </p:cNvPr>
          <p:cNvSpPr/>
          <p:nvPr/>
        </p:nvSpPr>
        <p:spPr>
          <a:xfrm rot="10800000">
            <a:off x="9625637" y="4335318"/>
            <a:ext cx="145059" cy="860088"/>
          </a:xfrm>
          <a:prstGeom prst="up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0" name="连接符: 肘形 109">
            <a:extLst>
              <a:ext uri="{FF2B5EF4-FFF2-40B4-BE49-F238E27FC236}">
                <a16:creationId xmlns:a16="http://schemas.microsoft.com/office/drawing/2014/main" id="{38DB1E70-B0FD-D7B7-13FA-FD35E80FFBB8}"/>
              </a:ext>
            </a:extLst>
          </p:cNvPr>
          <p:cNvCxnSpPr>
            <a:cxnSpLocks/>
            <a:stCxn id="46" idx="0"/>
            <a:endCxn id="64" idx="3"/>
          </p:cNvCxnSpPr>
          <p:nvPr/>
        </p:nvCxnSpPr>
        <p:spPr>
          <a:xfrm>
            <a:off x="5846084" y="1379515"/>
            <a:ext cx="4507747" cy="2719632"/>
          </a:xfrm>
          <a:prstGeom prst="bentConnector3">
            <a:avLst>
              <a:gd name="adj1" fmla="val 109720"/>
            </a:avLst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ADA63E31-D1D0-E69E-DB91-F9693FE153AC}"/>
              </a:ext>
            </a:extLst>
          </p:cNvPr>
          <p:cNvCxnSpPr>
            <a:cxnSpLocks/>
            <a:stCxn id="63" idx="2"/>
            <a:endCxn id="94" idx="0"/>
          </p:cNvCxnSpPr>
          <p:nvPr/>
        </p:nvCxnSpPr>
        <p:spPr>
          <a:xfrm flipH="1" flipV="1">
            <a:off x="8235893" y="2217126"/>
            <a:ext cx="511266" cy="33425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7A26AD82-6C18-F60D-69CA-265C9EF68DBA}"/>
              </a:ext>
            </a:extLst>
          </p:cNvPr>
          <p:cNvCxnSpPr>
            <a:cxnSpLocks/>
            <a:stCxn id="94" idx="1"/>
            <a:endCxn id="30" idx="3"/>
          </p:cNvCxnSpPr>
          <p:nvPr/>
        </p:nvCxnSpPr>
        <p:spPr>
          <a:xfrm flipH="1">
            <a:off x="6220228" y="2898184"/>
            <a:ext cx="1073407" cy="95796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2EEC87FC-21A7-8168-CF9C-F670D1C1AB91}"/>
              </a:ext>
            </a:extLst>
          </p:cNvPr>
          <p:cNvCxnSpPr>
            <a:cxnSpLocks/>
            <a:stCxn id="30" idx="1"/>
            <a:endCxn id="54" idx="0"/>
          </p:cNvCxnSpPr>
          <p:nvPr/>
        </p:nvCxnSpPr>
        <p:spPr>
          <a:xfrm flipH="1" flipV="1">
            <a:off x="4723162" y="3002723"/>
            <a:ext cx="384587" cy="85342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11783BDF-19B4-3E71-D13B-C4FE8912AF46}"/>
              </a:ext>
            </a:extLst>
          </p:cNvPr>
          <p:cNvCxnSpPr>
            <a:cxnSpLocks/>
            <a:stCxn id="38" idx="3"/>
            <a:endCxn id="11" idx="1"/>
          </p:cNvCxnSpPr>
          <p:nvPr/>
        </p:nvCxnSpPr>
        <p:spPr>
          <a:xfrm>
            <a:off x="1495201" y="2990094"/>
            <a:ext cx="848763" cy="240971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7" name="文本框 156">
            <a:extLst>
              <a:ext uri="{FF2B5EF4-FFF2-40B4-BE49-F238E27FC236}">
                <a16:creationId xmlns:a16="http://schemas.microsoft.com/office/drawing/2014/main" id="{389731F0-C689-A4D6-83DF-079B39EFBED4}"/>
              </a:ext>
            </a:extLst>
          </p:cNvPr>
          <p:cNvSpPr txBox="1"/>
          <p:nvPr/>
        </p:nvSpPr>
        <p:spPr>
          <a:xfrm>
            <a:off x="1216769" y="4204251"/>
            <a:ext cx="864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选择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本地文档</a:t>
            </a:r>
          </a:p>
        </p:txBody>
      </p: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B8CB1399-5833-E4EE-C587-453DD2D57072}"/>
              </a:ext>
            </a:extLst>
          </p:cNvPr>
          <p:cNvCxnSpPr>
            <a:cxnSpLocks/>
            <a:stCxn id="54" idx="2"/>
            <a:endCxn id="38" idx="3"/>
          </p:cNvCxnSpPr>
          <p:nvPr/>
        </p:nvCxnSpPr>
        <p:spPr>
          <a:xfrm flipH="1" flipV="1">
            <a:off x="1495201" y="2990094"/>
            <a:ext cx="1255236" cy="1262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5700BA1F-A1E4-13B6-9D55-1AB7A11CF6EC}"/>
              </a:ext>
            </a:extLst>
          </p:cNvPr>
          <p:cNvSpPr txBox="1"/>
          <p:nvPr/>
        </p:nvSpPr>
        <p:spPr>
          <a:xfrm>
            <a:off x="1854250" y="3022910"/>
            <a:ext cx="8553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补全建议</a:t>
            </a:r>
          </a:p>
        </p:txBody>
      </p:sp>
    </p:spTree>
    <p:extLst>
      <p:ext uri="{BB962C8B-B14F-4D97-AF65-F5344CB8AC3E}">
        <p14:creationId xmlns:p14="http://schemas.microsoft.com/office/powerpoint/2010/main" val="426706273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190</Words>
  <Application>Microsoft Office PowerPoint</Application>
  <PresentationFormat>宽屏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Zhiming Liu</dc:creator>
  <cp:lastModifiedBy>Zhiming Liu</cp:lastModifiedBy>
  <cp:revision>8</cp:revision>
  <dcterms:created xsi:type="dcterms:W3CDTF">2023-08-09T12:44:55Z</dcterms:created>
  <dcterms:modified xsi:type="dcterms:W3CDTF">2024-12-31T07:53:07Z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